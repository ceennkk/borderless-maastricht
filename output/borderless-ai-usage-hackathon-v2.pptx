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d3918e52174366" /><Relationship Type="http://schemas.openxmlformats.org/officeDocument/2006/relationships/extended-properties" Target="/docProps/app.xml" Id="Rccd80184c9a24514" /><Relationship Type="http://schemas.openxmlformats.org/officeDocument/2006/relationships/officeDocument" Target="/ppt/presentation.xml" Id="R8b061fe1c2ff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1e01f57564442f"/>
  </p:sldMasterIdLst>
  <p:notesMasterIdLst>
    <p:notesMasterId xmlns:r="http://schemas.openxmlformats.org/officeDocument/2006/relationships" r:id="R175b76d6130a44b7"/>
  </p:notesMasterIdLst>
  <p:sldIdLst>
    <p:sldId xmlns:r="http://schemas.openxmlformats.org/officeDocument/2006/relationships" id="256" r:id="Rc3a72edfcfa0473a"/>
    <p:sldId xmlns:r="http://schemas.openxmlformats.org/officeDocument/2006/relationships" id="257" r:id="Raa571f36a24b40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9b3e173c74064" /><Relationship Type="http://schemas.openxmlformats.org/officeDocument/2006/relationships/slideMaster" Target="/ppt/slideMasters/slideMaster1.xml" Id="R4b1e01f57564442f" /><Relationship Type="http://schemas.openxmlformats.org/officeDocument/2006/relationships/notesMaster" Target="/ppt/notesMasters/notesMaster1.xml" Id="R175b76d6130a44b7" /><Relationship Type="http://schemas.openxmlformats.org/officeDocument/2006/relationships/presProps" Target="/ppt/presProps.xml" Id="R340b08fd223c48e8" /><Relationship Type="http://schemas.openxmlformats.org/officeDocument/2006/relationships/tableStyles" Target="/ppt/tableStyles.xml" Id="Rc7e2f064bfd34a22" /><Relationship Type="http://schemas.openxmlformats.org/officeDocument/2006/relationships/slide" Target="/ppt/slides/slide1.xml" Id="Rc3a72edfcfa0473a" /><Relationship Type="http://schemas.openxmlformats.org/officeDocument/2006/relationships/slide" Target="/ppt/slides/slide2.xml" Id="Raa571f36a24b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73539c826e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4cdc8a3b3f499c" /><Relationship Type="http://schemas.openxmlformats.org/officeDocument/2006/relationships/notesMaster" Target="/ppt/notesMasters/notesMaster1.xml" Id="Rdf8ec688b34641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d6d175ad0e43b7" /><Relationship Type="http://schemas.openxmlformats.org/officeDocument/2006/relationships/notesMaster" Target="/ppt/notesMasters/notesMaster1.xml" Id="R0d63077d2872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Borderless chatbot architecture.</a:t>
            </a:r>
          </a:p>
          <a:p xmlns:a="http://schemas.openxmlformats.org/drawingml/2006/main">
            <a:r>
              <a:t>Key message: personal context improves relevance; confirmation keeps profile updates under user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Borderless RAG architecture.</a:t>
            </a:r>
          </a:p>
          <a:p xmlns:a="http://schemas.openxmlformats.org/drawingml/2006/main">
            <a:r>
              <a:t>Key message: retrieval narrows the answer to official, relevant guidance and exposes its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082a5751c48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6076d32f71478e" /><Relationship Type="http://schemas.openxmlformats.org/officeDocument/2006/relationships/slideLayout" Target="/ppt/slideLayouts/slideLayout1.xml" Id="Rbd8264c7d23e4d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8264c7d23e4d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1c7a565784fa2" /><Relationship Type="http://schemas.openxmlformats.org/officeDocument/2006/relationships/notesSlide" Target="/ppt/notesSlides/notesSlide1.xml" Id="Rce9340cf813b43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ce6dcbfd64e82" /><Relationship Type="http://schemas.openxmlformats.org/officeDocument/2006/relationships/notesSlide" Target="/ppt/notesSlides/notesSlide2.xml" Id="R06e81e6abfc5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DA947E-D6A3-473C-A044-7F6AE8E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AI IN BORDERLESS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28038-AF9C-4871-AAC9-EDBA0FF1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A personal guide that can update the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C2155-5B35-4F5C-AEB1-FD023B9E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assistant receives the current situation, answers in context and proposes profile changes only with user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0DC2F-AE3B-4207-BDE3-8F1F678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75B41-BE44-4DD7-93C2-5832EC92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9AD27-9CB4-46DE-86FB-2B528CD9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User 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5F20A-012D-402E-9646-7CDE077E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“I now work three days from home.”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179E9-2E96-4C80-9871-C109CFBC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8AF87-7710-439B-BB22-7F2E710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B42CE-1DA5-4305-BFE1-F9C73810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34EB1-09A8-486A-9FD0-5F94EADC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Relevant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BCEFC-25BD-47B6-BA64-CC0BC3FE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Profile, open To-Dos and flagged impacts travel with the question.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FC5CA-B89B-4335-9203-386E92EC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3E9AA-987E-4D4F-813E-8FB1090D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07E93-5F8B-4A81-9FD5-2A895BA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0785A-A78A-4B7E-80BA-1EFBD04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Secure AI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82140-33F5-4517-8A9A-6C6BE3BD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browser calls our backend. The OpenAI key stays on the server.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D5673-153E-476D-BE76-D0B13D9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46CB1-243B-4E9F-A344-9EE9FB60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3DF12-E385-4B80-8DBB-2B5B17D1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C74BB-3734-4D3C-B7D5-9607516C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Guided 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13EFF-1F6D-4D19-B17D-91709031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A strict system prompt avoids invented figures and legal advice.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BD49A-3425-4461-805E-F4307436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860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668F2-C0E4-421D-B61D-154809F0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637F0-EDE1-497D-ACF9-9D438991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336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FB2DF-02FC-4766-81B7-5B4F09E5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813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Confirmed update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011C3-5DB8-4889-AFF8-362E9F24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AI can propose update_profile. The user approves before the dashboard changes.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2692E7-3D73-40AB-879E-FED3090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F883E-8F2E-44E9-9EDB-0C42FFD4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Safety by design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EC50A-7136-40A1-9EEF-AED4B44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No API key in the browser. No silent profile edits. The assistant acts as a guide, with the user in control.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D2310-BE46-4B55-8951-C3C795AD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1679F9-7507-4870-8B42-DA7F180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BORDERLESS  /  AI USAGE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4A5622-0075-4DF4-861E-DD56044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7200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1FF6C6-1C8E-4B66-814B-45563D2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RETRIEVAL-AUGMENTED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19C61-EC8E-48F4-B978-BA0BF09A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Answers grounded in official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D885F-7D9C-48E5-A330-B8F8905D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Before the model answers, Borderless retrieves relevant government guidance and passes it into the prompt as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EC8D8-2419-4B83-BCBA-C9608C5A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247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C9D4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5CBF3-D567-44DD-8367-E1331987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58865-7A9B-4C3F-B872-5710A2D8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F08E7-D3FC-48C3-A695-235DF29B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Official documents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541B4-55CE-480B-A3B2-B4E824C4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Belastingdienst, SVB and GrenzInfoPunkt documents are stored as searchable vectors.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73885-85B2-41E5-9150-920486E7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5BF27-803F-4AF9-9803-6B82834E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247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C9D4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869CE-C9E7-4F4E-AAA7-58BF7140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7C11C-C714-4CE5-8475-9F4BFB72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6149F-0AC9-44EE-96B7-3BB6DC79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Profile-aware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671FD-8EED-48B0-AC31-644E4CA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A person working in Germany receives German-relevant material, not unrelated Belgian tax rules.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2CBEB-C58A-456C-B475-782E1E0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A7A04-091C-41A4-ABC3-8AA104AF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47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9525">
            <a:solidFill>
              <a:srgbClr val="C9D4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3D7CD-D43B-432E-8537-4C8410D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6B032-6C64-4F3E-A663-0E46092B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92881-3148-4528-A443-DD5C4F03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Context injection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440F5-7963-46B8-A955-FA13F4A8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The most relevant legal passages enter the model prompt as ground truth.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1CA5D-7669-43A1-AC8A-EAEDA47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4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5A528-1CD5-4B18-8666-8709CCEC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2479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4E4B"/>
          </a:solidFill>
          <a:ln xmlns:a="http://schemas.openxmlformats.org/drawingml/2006/main" w="9525">
            <a:solidFill>
              <a:srgbClr val="114E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423C7-808E-4140-93BF-504B74CD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2D9AE-BACE-486C-A3FC-BD41757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908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CFD0C-48CE-4DB0-B4D7-7D6568F7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Traceable answer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4C9BB-F56E-43E4-92E3-6B512CD6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1828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EE8"/>
                </a:solidFill>
                <a:latin typeface="Helvetica Neue"/>
                <a:ea typeface="Helvetica Neue"/>
                <a:cs typeface="Helvetica Neue"/>
              </a:rPr>
              <a:t>The assistant answers from that context and the chat shows the exact source URLs.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B0A63-966B-426A-ACDF-20389BF7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4E4B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DF0BF9-8369-478A-BAB3-88EED696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5307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A2A"/>
                </a:solidFill>
                <a:latin typeface="Helvetica Neue"/>
                <a:ea typeface="Helvetica Neue"/>
                <a:cs typeface="Helvetica Neue"/>
              </a:rPr>
              <a:t>The model does not rely on general legal knowledge alone. It works from current, official guidance that users can open and check.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D9493-FDC5-46BB-A7BF-283690A1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D39D46-51DD-40C2-BC42-3F5D5BAD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BORDERLESS  /  AI USAGE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374C83-6918-4CA4-AA19-4D75F5DE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D6A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00296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2026-09-21T14:43:49.8510000Z</dcterms:created>
  <dcterms:modified xsi:type="dcterms:W3CDTF">2026-09-21T14:43:49.8510000Z</dcterms:modified>
</coreProperties>
</file>